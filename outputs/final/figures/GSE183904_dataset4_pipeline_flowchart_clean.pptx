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0A7931F-1D6C-4673-8DD4-F2A949525E5A}"/>
              </a:ext>
            </a:extLst>
          </p:cNvPr>
          <p:cNvSpPr>
            <a:spLocks noGrp="1"/>
          </p:cNvSpPr>
          <p:nvPr/>
        </p:nvSpPr>
        <p:spPr>
          <a:xfrm>
            <a:off x="260984" y="205980"/>
            <a:ext cx="14718031" cy="617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F2933"/>
                </a:solidFill>
              </a:defRPr>
            </a:pPr>
            <a:r>
              <a:rPr sz="230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Dataset4 | GSE183904 gastric cancer</a:t>
            </a:r>
            <a:r>
              <a:rPr lang="fr-FR" sz="230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| Kumar et al., Cancer Discovery 2022, 10.1158/2159-8290.CD-21-0683</a:t>
            </a:r>
            <a:endParaRPr sz="2300" b="1" dirty="0">
              <a:solidFill>
                <a:srgbClr val="1F2933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145209-49AB-4543-BF92-1883671BE4E2}"/>
              </a:ext>
            </a:extLst>
          </p:cNvPr>
          <p:cNvSpPr>
            <a:spLocks noGrp="1"/>
          </p:cNvSpPr>
          <p:nvPr/>
        </p:nvSpPr>
        <p:spPr>
          <a:xfrm>
            <a:off x="350520" y="696874"/>
            <a:ext cx="1200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are KCNQ1, KCNE2 and KCNE3 linked to intestinal</a:t>
            </a:r>
            <a:r>
              <a:rPr lang="fr-FR" sz="15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5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or diffuse/EMT-like malignant epithelial states?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7F750C-33FC-4A10-8826-AEBC0E5086D7}"/>
              </a:ext>
            </a:extLst>
          </p:cNvPr>
          <p:cNvSpPr>
            <a:spLocks noGrp="1"/>
          </p:cNvSpPr>
          <p:nvPr/>
        </p:nvSpPr>
        <p:spPr>
          <a:xfrm>
            <a:off x="857250" y="1476374"/>
            <a:ext cx="3905250" cy="2032635"/>
          </a:xfrm>
          <a:prstGeom prst="roundRect">
            <a:avLst>
              <a:gd name="adj" fmla="val 8000"/>
            </a:avLst>
          </a:prstGeom>
          <a:solidFill>
            <a:srgbClr val="8BD771"/>
          </a:solidFill>
          <a:ln w="11430">
            <a:solidFill>
              <a:srgbClr val="6FBF59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055E3D-5EFB-441E-84D6-AFAFA7BACA87}"/>
              </a:ext>
            </a:extLst>
          </p:cNvPr>
          <p:cNvSpPr>
            <a:spLocks noGrp="1"/>
          </p:cNvSpPr>
          <p:nvPr/>
        </p:nvSpPr>
        <p:spPr>
          <a:xfrm>
            <a:off x="1085850" y="1647825"/>
            <a:ext cx="344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12"/>
                </a:solidFill>
              </a:defRPr>
            </a:pPr>
            <a:r>
              <a:rPr sz="1725" b="1">
                <a:solidFill>
                  <a:srgbClr val="102A1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1. Input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2E1F6-7298-4DC0-9CA9-ADB8C1FBB61C}"/>
              </a:ext>
            </a:extLst>
          </p:cNvPr>
          <p:cNvSpPr>
            <a:spLocks noGrp="1"/>
          </p:cNvSpPr>
          <p:nvPr/>
        </p:nvSpPr>
        <p:spPr>
          <a:xfrm>
            <a:off x="1234440" y="1924050"/>
            <a:ext cx="3448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GSE183904_RAW.tar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Raw UMI: genes x cells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GEO import: 113,470 cells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20 primary tumors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(14int + 6dif)</a:t>
            </a: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+ 5 matched normals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ref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for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inferCNV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lang="en-GB" sz="1350" b="0" strike="sngStrike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mixed </a:t>
            </a:r>
            <a:r>
              <a:rPr lang="en-GB" sz="1350" b="0" strike="sngStrike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tumors</a:t>
            </a:r>
            <a:r>
              <a:rPr lang="en-GB" sz="1350" b="0" strike="sngStrike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, metastases, peritoneal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lang="en-GB" sz="1350" b="0" strike="sngStrike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samples and missing Lauren labels.</a:t>
            </a:r>
            <a:endParaRPr sz="1350" b="0" strike="sngStrike" dirty="0">
              <a:solidFill>
                <a:srgbClr val="12231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C5E703A-416F-49E4-8F2C-48858EF7162B}"/>
              </a:ext>
            </a:extLst>
          </p:cNvPr>
          <p:cNvSpPr>
            <a:spLocks noGrp="1"/>
          </p:cNvSpPr>
          <p:nvPr/>
        </p:nvSpPr>
        <p:spPr>
          <a:xfrm>
            <a:off x="4953000" y="1924050"/>
            <a:ext cx="666750" cy="552450"/>
          </a:xfrm>
          <a:prstGeom prst="right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A109CA-97B4-4A05-A741-64D7D188F917}"/>
              </a:ext>
            </a:extLst>
          </p:cNvPr>
          <p:cNvSpPr>
            <a:spLocks noGrp="1"/>
          </p:cNvSpPr>
          <p:nvPr/>
        </p:nvSpPr>
        <p:spPr>
          <a:xfrm>
            <a:off x="5810250" y="1476374"/>
            <a:ext cx="4095750" cy="1894521"/>
          </a:xfrm>
          <a:prstGeom prst="roundRect">
            <a:avLst>
              <a:gd name="adj" fmla="val 8000"/>
            </a:avLst>
          </a:prstGeom>
          <a:solidFill>
            <a:srgbClr val="8BD771"/>
          </a:solidFill>
          <a:ln w="11430">
            <a:solidFill>
              <a:srgbClr val="6FBF59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8C8CFC-5EAE-4966-A631-9C5DE5149DC3}"/>
              </a:ext>
            </a:extLst>
          </p:cNvPr>
          <p:cNvSpPr>
            <a:spLocks noGrp="1"/>
          </p:cNvSpPr>
          <p:nvPr/>
        </p:nvSpPr>
        <p:spPr>
          <a:xfrm>
            <a:off x="6038850" y="1647825"/>
            <a:ext cx="3638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12"/>
                </a:solidFill>
              </a:defRPr>
            </a:pPr>
            <a:r>
              <a:rPr sz="1725" b="1">
                <a:solidFill>
                  <a:srgbClr val="102A1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2. Epithelial candidates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3CE81A-5D55-4C7E-AE6D-0F82859A3EA8}"/>
              </a:ext>
            </a:extLst>
          </p:cNvPr>
          <p:cNvSpPr>
            <a:spLocks noGrp="1"/>
          </p:cNvSpPr>
          <p:nvPr/>
        </p:nvSpPr>
        <p:spPr>
          <a:xfrm>
            <a:off x="5848350" y="1959769"/>
            <a:ext cx="4057650" cy="137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22315"/>
                </a:solidFill>
              </a:defRPr>
            </a:pP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Rule: &gt;=3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core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epithelial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genes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or &gt;=2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core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epithelial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genes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epithelial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score &gt; 65% of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strongest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non-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epithelial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score. 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EPCAM,KRT7/8/18/19/20,MUC1, CDH1, TACSTD2. 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Output: </a:t>
            </a:r>
            <a:r>
              <a:rPr lang="fr-FR"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28,845 / 113,470 </a:t>
            </a:r>
            <a:r>
              <a:rPr lang="fr-FR" sz="1350" b="0" dirty="0" err="1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cells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9F50544-A4BF-4A4C-8915-D41929A96B6F}"/>
              </a:ext>
            </a:extLst>
          </p:cNvPr>
          <p:cNvSpPr>
            <a:spLocks noGrp="1"/>
          </p:cNvSpPr>
          <p:nvPr/>
        </p:nvSpPr>
        <p:spPr>
          <a:xfrm>
            <a:off x="10096500" y="1924050"/>
            <a:ext cx="666750" cy="552450"/>
          </a:xfrm>
          <a:prstGeom prst="right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2EA49D-7F4F-4A34-92A3-5DEE294FCD61}"/>
              </a:ext>
            </a:extLst>
          </p:cNvPr>
          <p:cNvSpPr>
            <a:spLocks noGrp="1"/>
          </p:cNvSpPr>
          <p:nvPr/>
        </p:nvSpPr>
        <p:spPr>
          <a:xfrm>
            <a:off x="10953750" y="1476375"/>
            <a:ext cx="3200400" cy="1855944"/>
          </a:xfrm>
          <a:prstGeom prst="roundRect">
            <a:avLst>
              <a:gd name="adj" fmla="val 8000"/>
            </a:avLst>
          </a:prstGeom>
          <a:solidFill>
            <a:srgbClr val="8BD771"/>
          </a:solidFill>
          <a:ln w="11430">
            <a:solidFill>
              <a:srgbClr val="6FBF59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ABC74D-97FE-4C60-A7A6-D2AA823E65A3}"/>
              </a:ext>
            </a:extLst>
          </p:cNvPr>
          <p:cNvSpPr>
            <a:spLocks noGrp="1"/>
          </p:cNvSpPr>
          <p:nvPr/>
        </p:nvSpPr>
        <p:spPr>
          <a:xfrm>
            <a:off x="11182350" y="1647825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12"/>
                </a:solidFill>
              </a:defRPr>
            </a:pPr>
            <a:r>
              <a:rPr sz="1725" b="1">
                <a:solidFill>
                  <a:srgbClr val="102A1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3. Tumor map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001521-A288-4B20-9C95-CF38B4D11650}"/>
              </a:ext>
            </a:extLst>
          </p:cNvPr>
          <p:cNvSpPr>
            <a:spLocks noGrp="1"/>
          </p:cNvSpPr>
          <p:nvPr/>
        </p:nvSpPr>
        <p:spPr>
          <a:xfrm>
            <a:off x="11182350" y="2028825"/>
            <a:ext cx="248793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Seurat</a:t>
            </a: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  <a:r>
              <a:rPr lang="en-GB" sz="135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LogNormalize</a:t>
            </a:r>
            <a:r>
              <a:rPr lang="en-GB" sz="135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10,000; 2,000 HVGs; 30 PCs; </a:t>
            </a:r>
            <a:r>
              <a:rPr lang="en-GB" sz="135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neighbors</a:t>
            </a:r>
            <a:r>
              <a:rPr lang="en-GB" sz="135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/t-SNE PCs 1:20; k=30; resolution=0.8</a:t>
            </a:r>
            <a:endParaRPr sz="1350" b="0" dirty="0">
              <a:solidFill>
                <a:srgbClr val="12231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DEEECBA-6485-4B59-9812-948A94DCA70C}"/>
              </a:ext>
            </a:extLst>
          </p:cNvPr>
          <p:cNvSpPr>
            <a:spLocks noGrp="1"/>
          </p:cNvSpPr>
          <p:nvPr/>
        </p:nvSpPr>
        <p:spPr>
          <a:xfrm>
            <a:off x="12104370" y="3482815"/>
            <a:ext cx="590550" cy="609600"/>
          </a:xfrm>
          <a:prstGeom prst="down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9A8CDE-1E93-4A2E-A5E5-BBC82E08F9B3}"/>
              </a:ext>
            </a:extLst>
          </p:cNvPr>
          <p:cNvSpPr>
            <a:spLocks noGrp="1"/>
          </p:cNvSpPr>
          <p:nvPr/>
        </p:nvSpPr>
        <p:spPr>
          <a:xfrm>
            <a:off x="8431530" y="4204334"/>
            <a:ext cx="5833110" cy="1524000"/>
          </a:xfrm>
          <a:prstGeom prst="roundRect">
            <a:avLst>
              <a:gd name="adj" fmla="val 7500"/>
            </a:avLst>
          </a:prstGeom>
          <a:solidFill>
            <a:srgbClr val="8BD771"/>
          </a:solidFill>
          <a:ln w="11430">
            <a:solidFill>
              <a:srgbClr val="6FBF59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768922-6EF3-4E2F-B73E-98CF6EFFF615}"/>
              </a:ext>
            </a:extLst>
          </p:cNvPr>
          <p:cNvSpPr>
            <a:spLocks noGrp="1"/>
          </p:cNvSpPr>
          <p:nvPr/>
        </p:nvSpPr>
        <p:spPr>
          <a:xfrm>
            <a:off x="8888730" y="4323396"/>
            <a:ext cx="449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12"/>
                </a:solidFill>
              </a:defRPr>
            </a:pPr>
            <a:r>
              <a:rPr sz="1725" b="1" dirty="0">
                <a:solidFill>
                  <a:srgbClr val="102A1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4. Malignant epithelial selection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FB10D7-55F2-4AFD-A1F7-61E41B78DB23}"/>
              </a:ext>
            </a:extLst>
          </p:cNvPr>
          <p:cNvSpPr>
            <a:spLocks noGrp="1"/>
          </p:cNvSpPr>
          <p:nvPr/>
        </p:nvSpPr>
        <p:spPr>
          <a:xfrm>
            <a:off x="8596312" y="4679154"/>
            <a:ext cx="5533073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Tumor program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markers</a:t>
            </a:r>
            <a:r>
              <a:rPr lang="fr-FR" sz="135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(Zhou et al. Supp. Table S4)</a:t>
            </a: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+ </a:t>
            </a:r>
            <a:r>
              <a:rPr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inferCNV</a:t>
            </a: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support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inferCNV</a:t>
            </a: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: 750 normal epithelial cells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from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the 5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samples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  <a:endParaRPr sz="1350" b="0" dirty="0">
              <a:solidFill>
                <a:srgbClr val="12231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8,543 tumor-program cells</a:t>
            </a:r>
            <a:r>
              <a:rPr lang="fr-FR" sz="135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(&gt; normal q9)</a:t>
            </a:r>
            <a:r>
              <a:rPr lang="fr-FR"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+ 2,785 CNV-supported cells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1F0C81D-AF0F-4829-AA43-44C3F41F32C1}"/>
              </a:ext>
            </a:extLst>
          </p:cNvPr>
          <p:cNvSpPr>
            <a:spLocks noGrp="1"/>
          </p:cNvSpPr>
          <p:nvPr/>
        </p:nvSpPr>
        <p:spPr>
          <a:xfrm rot="10800000">
            <a:off x="7536180" y="4599621"/>
            <a:ext cx="666750" cy="552450"/>
          </a:xfrm>
          <a:prstGeom prst="right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66D2F2-59E4-4705-B4FC-35287F863B11}"/>
              </a:ext>
            </a:extLst>
          </p:cNvPr>
          <p:cNvSpPr>
            <a:spLocks noGrp="1"/>
          </p:cNvSpPr>
          <p:nvPr/>
        </p:nvSpPr>
        <p:spPr>
          <a:xfrm>
            <a:off x="3211829" y="3825713"/>
            <a:ext cx="4095750" cy="2174085"/>
          </a:xfrm>
          <a:prstGeom prst="roundRect">
            <a:avLst>
              <a:gd name="adj" fmla="val 7500"/>
            </a:avLst>
          </a:prstGeom>
          <a:solidFill>
            <a:srgbClr val="8BD771"/>
          </a:solidFill>
          <a:ln w="11430">
            <a:solidFill>
              <a:srgbClr val="6FBF59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F37C92-4590-449C-A0C0-62C83CE303D1}"/>
              </a:ext>
            </a:extLst>
          </p:cNvPr>
          <p:cNvSpPr>
            <a:spLocks noGrp="1"/>
          </p:cNvSpPr>
          <p:nvPr/>
        </p:nvSpPr>
        <p:spPr>
          <a:xfrm>
            <a:off x="3398520" y="4018596"/>
            <a:ext cx="3638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12"/>
                </a:solidFill>
              </a:defRPr>
            </a:pPr>
            <a:r>
              <a:rPr sz="1725" b="1" dirty="0">
                <a:solidFill>
                  <a:srgbClr val="102A1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5. Cleaning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5D5D7F-A471-4A82-8E1B-923FCBE94405}"/>
              </a:ext>
            </a:extLst>
          </p:cNvPr>
          <p:cNvSpPr>
            <a:spLocks noGrp="1"/>
          </p:cNvSpPr>
          <p:nvPr/>
        </p:nvSpPr>
        <p:spPr>
          <a:xfrm>
            <a:off x="3429000" y="4417692"/>
            <a:ext cx="3638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Removed immune-contaminant profiles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(high </a:t>
            </a:r>
            <a:r>
              <a:rPr lang="fr-FR"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lvl</a:t>
            </a:r>
            <a:r>
              <a:rPr lang="fr-FR" sz="135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of </a:t>
            </a:r>
            <a:r>
              <a:rPr lang="fr-FR" sz="135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immune_markers</a:t>
            </a:r>
            <a:r>
              <a:rPr lang="fr-FR" sz="135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2&gt;= PTPRC, CD3D, CD3E, NKG7, LST1, TYROBP, FCER1G, CD52, LCP2, SRGN)</a:t>
            </a:r>
            <a:endParaRPr sz="1350" b="0" dirty="0">
              <a:solidFill>
                <a:srgbClr val="12231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11,328 malignant candidates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8,901 cleaned malignant cells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EF02662-E184-47CC-A214-EC3B1F830315}"/>
              </a:ext>
            </a:extLst>
          </p:cNvPr>
          <p:cNvSpPr>
            <a:spLocks noGrp="1"/>
          </p:cNvSpPr>
          <p:nvPr/>
        </p:nvSpPr>
        <p:spPr>
          <a:xfrm>
            <a:off x="4762500" y="6092666"/>
            <a:ext cx="590550" cy="609600"/>
          </a:xfrm>
          <a:prstGeom prst="down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AB35DA3-CA0A-4EBB-B522-7D0AAD3AD94D}"/>
              </a:ext>
            </a:extLst>
          </p:cNvPr>
          <p:cNvSpPr>
            <a:spLocks noGrp="1"/>
          </p:cNvSpPr>
          <p:nvPr/>
        </p:nvSpPr>
        <p:spPr>
          <a:xfrm>
            <a:off x="2876549" y="6812278"/>
            <a:ext cx="5107305" cy="1554242"/>
          </a:xfrm>
          <a:prstGeom prst="roundRect">
            <a:avLst>
              <a:gd name="adj" fmla="val 8000"/>
            </a:avLst>
          </a:prstGeom>
          <a:solidFill>
            <a:srgbClr val="8BD771"/>
          </a:solidFill>
          <a:ln w="11430">
            <a:solidFill>
              <a:srgbClr val="6FBF59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DC76F1-F236-45FC-BB8B-8704B3C5A68B}"/>
              </a:ext>
            </a:extLst>
          </p:cNvPr>
          <p:cNvSpPr>
            <a:spLocks noGrp="1"/>
          </p:cNvSpPr>
          <p:nvPr/>
        </p:nvSpPr>
        <p:spPr>
          <a:xfrm>
            <a:off x="3211829" y="6871334"/>
            <a:ext cx="449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12"/>
                </a:solidFill>
              </a:defRPr>
            </a:pPr>
            <a:r>
              <a:rPr sz="1725" b="1" dirty="0">
                <a:solidFill>
                  <a:srgbClr val="102A1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6. Intestinal vs diffuse/EMT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BC7FA7-0AD2-442C-91B3-76BDE0B5DD85}"/>
              </a:ext>
            </a:extLst>
          </p:cNvPr>
          <p:cNvSpPr>
            <a:spLocks noGrp="1"/>
          </p:cNvSpPr>
          <p:nvPr/>
        </p:nvSpPr>
        <p:spPr>
          <a:xfrm>
            <a:off x="3059429" y="7176134"/>
            <a:ext cx="4924426" cy="11903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 err="1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UCell</a:t>
            </a: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scores</a:t>
            </a: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signatures</a:t>
            </a: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on cleaned malignant cells</a:t>
            </a:r>
            <a:endParaRPr lang="fr-FR" sz="1350" b="0" dirty="0">
              <a:solidFill>
                <a:srgbClr val="12231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lang="fr-FR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Delta =  </a:t>
            </a:r>
            <a:r>
              <a:rPr lang="fr-FR" sz="135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intestinal score – diffuse/EMT score</a:t>
            </a:r>
            <a:endParaRPr lang="fr-FR" sz="1350" b="0" dirty="0">
              <a:solidFill>
                <a:srgbClr val="12231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lang="en-GB"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abs(delta) &gt;= 0.5 SD and dominant score &gt;= 0</a:t>
            </a:r>
            <a:endParaRPr sz="1350" b="0" dirty="0">
              <a:solidFill>
                <a:srgbClr val="122315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6,573 high-confidence cells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4,170 intestinal-like | 2,403 diffuse/EMT-like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F09D907-49DD-496A-8F79-D1BF3371F648}"/>
              </a:ext>
            </a:extLst>
          </p:cNvPr>
          <p:cNvSpPr>
            <a:spLocks noGrp="1"/>
          </p:cNvSpPr>
          <p:nvPr/>
        </p:nvSpPr>
        <p:spPr>
          <a:xfrm>
            <a:off x="8221980" y="7223759"/>
            <a:ext cx="666750" cy="552450"/>
          </a:xfrm>
          <a:prstGeom prst="right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F58CA5F-34D2-4F37-AD08-004DE1ACB98B}"/>
              </a:ext>
            </a:extLst>
          </p:cNvPr>
          <p:cNvSpPr>
            <a:spLocks noGrp="1"/>
          </p:cNvSpPr>
          <p:nvPr/>
        </p:nvSpPr>
        <p:spPr>
          <a:xfrm>
            <a:off x="9126855" y="6795134"/>
            <a:ext cx="4095750" cy="1428750"/>
          </a:xfrm>
          <a:prstGeom prst="roundRect">
            <a:avLst>
              <a:gd name="adj" fmla="val 8000"/>
            </a:avLst>
          </a:prstGeom>
          <a:solidFill>
            <a:srgbClr val="8BD771"/>
          </a:solidFill>
          <a:ln w="11430">
            <a:solidFill>
              <a:srgbClr val="6FBF59"/>
            </a:solidFill>
            <a:prstDash val="solid"/>
          </a:ln>
        </p:spPr>
        <p:txBody>
          <a:bodyPr/>
          <a:lstStyle/>
          <a:p>
            <a:endParaRPr lang="fr-FR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E91F60-F3C9-4B3C-9BD8-843D7763F747}"/>
              </a:ext>
            </a:extLst>
          </p:cNvPr>
          <p:cNvSpPr>
            <a:spLocks noGrp="1"/>
          </p:cNvSpPr>
          <p:nvPr/>
        </p:nvSpPr>
        <p:spPr>
          <a:xfrm>
            <a:off x="9355455" y="6966584"/>
            <a:ext cx="3638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12"/>
                </a:solidFill>
              </a:defRPr>
            </a:pPr>
            <a:r>
              <a:rPr sz="1725" b="1">
                <a:solidFill>
                  <a:srgbClr val="102A1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7. KCN readout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4A8A52-943C-42F7-B8D5-CEC06A1CA09C}"/>
              </a:ext>
            </a:extLst>
          </p:cNvPr>
          <p:cNvSpPr>
            <a:spLocks noGrp="1"/>
          </p:cNvSpPr>
          <p:nvPr/>
        </p:nvSpPr>
        <p:spPr>
          <a:xfrm>
            <a:off x="9431655" y="7240904"/>
            <a:ext cx="36385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Raw-count detection + Fisher test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122315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Spearman with state scores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KCNQ1 and KCNE3: intestinal-like</a:t>
            </a:r>
          </a:p>
          <a:p>
            <a:pPr algn="l">
              <a:defRPr sz="1350" b="0">
                <a:solidFill>
                  <a:srgbClr val="122315"/>
                </a:solidFill>
              </a:defRPr>
            </a:pPr>
            <a:r>
              <a:rPr sz="1350" b="0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KCNE2: same direction, weaker signal</a:t>
            </a:r>
          </a:p>
        </p:txBody>
      </p:sp>
    </p:spTree>
    <p:extLst>
      <p:ext uri="{BB962C8B-B14F-4D97-AF65-F5344CB8AC3E}">
        <p14:creationId xmlns:p14="http://schemas.microsoft.com/office/powerpoint/2010/main" val="528467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14043F5D-A04D-435B-9E2C-4920F36F79F8}"/>
              </a:ext>
            </a:extLst>
          </p:cNvPr>
          <p:cNvSpPr>
            <a:spLocks noGrp="1"/>
          </p:cNvSpPr>
          <p:nvPr/>
        </p:nvSpPr>
        <p:spPr>
          <a:xfrm>
            <a:off x="314325" y="223838"/>
            <a:ext cx="14611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0">
                <a:solidFill>
                  <a:srgbClr val="1F2933"/>
                </a:solidFill>
              </a:defRPr>
            </a:pPr>
            <a:r>
              <a:rPr sz="2325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Dataset1 | GSE150290 gastric cancer | Kim et al., </a:t>
            </a:r>
            <a:r>
              <a:rPr sz="2325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npj</a:t>
            </a:r>
            <a:r>
              <a:rPr sz="2325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Precision Oncology 2022, 10.1038/s41698-022-00251-1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8F5225-F2CB-4365-95F7-5245F6808DB9}"/>
              </a:ext>
            </a:extLst>
          </p:cNvPr>
          <p:cNvSpPr>
            <a:spLocks noGrp="1"/>
          </p:cNvSpPr>
          <p:nvPr/>
        </p:nvSpPr>
        <p:spPr>
          <a:xfrm>
            <a:off x="314325" y="683896"/>
            <a:ext cx="1200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1" dirty="0">
                <a:solidFill>
                  <a:srgbClr val="4B556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are KCNQ1, KCNE2 and KCNE3 linked to intestinal or diffuse-like tumor cell states?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1130B4-C056-4B90-BDC3-A9F010AE0BC4}"/>
              </a:ext>
            </a:extLst>
          </p:cNvPr>
          <p:cNvSpPr>
            <a:spLocks noGrp="1"/>
          </p:cNvSpPr>
          <p:nvPr/>
        </p:nvSpPr>
        <p:spPr>
          <a:xfrm>
            <a:off x="885825" y="1337311"/>
            <a:ext cx="3848100" cy="2252662"/>
          </a:xfrm>
          <a:prstGeom prst="roundRect">
            <a:avLst>
              <a:gd name="adj" fmla="val 5634"/>
            </a:avLst>
          </a:prstGeom>
          <a:solidFill>
            <a:srgbClr val="DAC3E8"/>
          </a:solidFill>
          <a:ln w="11430">
            <a:solidFill>
              <a:srgbClr val="B99AD0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B929F-1F3E-4E01-B7F7-65586D5B24D5}"/>
              </a:ext>
            </a:extLst>
          </p:cNvPr>
          <p:cNvSpPr>
            <a:spLocks noGrp="1"/>
          </p:cNvSpPr>
          <p:nvPr/>
        </p:nvSpPr>
        <p:spPr>
          <a:xfrm>
            <a:off x="981075" y="1509713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F2933"/>
                </a:solidFill>
              </a:defRPr>
            </a:pPr>
            <a:r>
              <a:rPr sz="1725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1. Input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2CD1B-D85A-43FB-9932-AD38F69B9D70}"/>
              </a:ext>
            </a:extLst>
          </p:cNvPr>
          <p:cNvSpPr>
            <a:spLocks noGrp="1"/>
          </p:cNvSpPr>
          <p:nvPr/>
        </p:nvSpPr>
        <p:spPr>
          <a:xfrm>
            <a:off x="1093470" y="1888332"/>
            <a:ext cx="2647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GSE150290 processed matrices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82982-0810-433A-ABE1-F66A155B075E}"/>
              </a:ext>
            </a:extLst>
          </p:cNvPr>
          <p:cNvSpPr>
            <a:spLocks noGrp="1"/>
          </p:cNvSpPr>
          <p:nvPr/>
        </p:nvSpPr>
        <p:spPr>
          <a:xfrm>
            <a:off x="1059179" y="2289334"/>
            <a:ext cx="3427095" cy="221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Raw UMI: genes x cells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</a:t>
            </a:r>
            <a:r>
              <a:rPr lang="fr-FR" sz="1350" b="1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8705</a:t>
            </a:r>
            <a:r>
              <a:rPr lang="fr-FR"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x 13022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  <a:endParaRPr sz="1350" b="1" dirty="0">
              <a:solidFill>
                <a:srgbClr val="1F2933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2DF1BE-9326-46DC-BBA2-72BBE9A3AB03}"/>
              </a:ext>
            </a:extLst>
          </p:cNvPr>
          <p:cNvSpPr>
            <a:spLocks noGrp="1"/>
          </p:cNvSpPr>
          <p:nvPr/>
        </p:nvSpPr>
        <p:spPr>
          <a:xfrm>
            <a:off x="1066800" y="3174207"/>
            <a:ext cx="3219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Global map: 13,022 cells x 8,705 genes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10CA5A-534A-43A3-82EC-8E4B041067CD}"/>
              </a:ext>
            </a:extLst>
          </p:cNvPr>
          <p:cNvSpPr>
            <a:spLocks noGrp="1"/>
          </p:cNvSpPr>
          <p:nvPr/>
        </p:nvSpPr>
        <p:spPr>
          <a:xfrm>
            <a:off x="1055370" y="2530317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Adjacent normal: 7,095 cells</a:t>
            </a: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Cancer samples: 5,927 cells</a:t>
            </a: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Non-immune compartment used first.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1D78569-3C8B-4C10-8AE1-A94587732E11}"/>
              </a:ext>
            </a:extLst>
          </p:cNvPr>
          <p:cNvSpPr>
            <a:spLocks noGrp="1"/>
          </p:cNvSpPr>
          <p:nvPr/>
        </p:nvSpPr>
        <p:spPr>
          <a:xfrm>
            <a:off x="4953000" y="1924050"/>
            <a:ext cx="666750" cy="552450"/>
          </a:xfrm>
          <a:prstGeom prst="right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1516C2-A70C-41A8-9FF1-E49DA142FF2E}"/>
              </a:ext>
            </a:extLst>
          </p:cNvPr>
          <p:cNvSpPr>
            <a:spLocks noGrp="1"/>
          </p:cNvSpPr>
          <p:nvPr/>
        </p:nvSpPr>
        <p:spPr>
          <a:xfrm>
            <a:off x="5901689" y="1190625"/>
            <a:ext cx="3952875" cy="2514600"/>
          </a:xfrm>
          <a:prstGeom prst="roundRect">
            <a:avLst>
              <a:gd name="adj" fmla="val 6030"/>
            </a:avLst>
          </a:prstGeom>
          <a:solidFill>
            <a:srgbClr val="DAC3E8"/>
          </a:solidFill>
          <a:ln w="11430">
            <a:solidFill>
              <a:srgbClr val="B99AD0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18E63-D3E3-414E-A68F-799131583279}"/>
              </a:ext>
            </a:extLst>
          </p:cNvPr>
          <p:cNvSpPr>
            <a:spLocks noGrp="1"/>
          </p:cNvSpPr>
          <p:nvPr/>
        </p:nvSpPr>
        <p:spPr>
          <a:xfrm>
            <a:off x="6021705" y="130254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F2933"/>
                </a:solidFill>
              </a:defRPr>
            </a:pPr>
            <a:r>
              <a:rPr sz="1725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2. Tumor candidates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6EE9EB-F66A-492E-8D8F-9DE5B4D16AAB}"/>
              </a:ext>
            </a:extLst>
          </p:cNvPr>
          <p:cNvSpPr>
            <a:spLocks noGrp="1"/>
          </p:cNvSpPr>
          <p:nvPr/>
        </p:nvSpPr>
        <p:spPr>
          <a:xfrm>
            <a:off x="5981700" y="1662112"/>
            <a:ext cx="3872864" cy="17356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Global non-immune t-SNE</a:t>
            </a: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Tumor</a:t>
            </a:r>
            <a:r>
              <a:rPr lang="fr-FR"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clusters selected from epithelial/tumor markers</a:t>
            </a:r>
            <a:r>
              <a:rPr lang="fr-FR"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1" dirty="0" err="1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from</a:t>
            </a:r>
            <a:r>
              <a:rPr lang="fr-FR"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the </a:t>
            </a:r>
            <a:r>
              <a:rPr lang="fr-FR" sz="1350" b="1" dirty="0" err="1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paper</a:t>
            </a:r>
            <a:r>
              <a:rPr lang="fr-FR"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(clustering=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NormalizeData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;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HVGs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mean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/dispersion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logic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;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ScaleData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nCount_RNA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regression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; PCA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seed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=12345;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neighbors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on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PCs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1-20; clustering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resolution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=0.8; t-SNE</a:t>
            </a: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on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PCs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1-5;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seed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=12345)</a:t>
            </a:r>
            <a:endParaRPr sz="1350" b="1" dirty="0">
              <a:solidFill>
                <a:srgbClr val="1F2933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5BDC4-868F-4944-9BC7-B42A90BB86D3}"/>
              </a:ext>
            </a:extLst>
          </p:cNvPr>
          <p:cNvSpPr>
            <a:spLocks noGrp="1"/>
          </p:cNvSpPr>
          <p:nvPr/>
        </p:nvSpPr>
        <p:spPr>
          <a:xfrm>
            <a:off x="5981700" y="3397806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Output: 1,408 broad tumor cells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E0AF5FB-4EFD-4916-ABF3-3E1293D82C57}"/>
              </a:ext>
            </a:extLst>
          </p:cNvPr>
          <p:cNvSpPr>
            <a:spLocks noGrp="1"/>
          </p:cNvSpPr>
          <p:nvPr/>
        </p:nvSpPr>
        <p:spPr>
          <a:xfrm>
            <a:off x="10096500" y="1924050"/>
            <a:ext cx="666750" cy="552450"/>
          </a:xfrm>
          <a:prstGeom prst="right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BC1F1F4-F31E-470E-AB54-2406A34B8737}"/>
              </a:ext>
            </a:extLst>
          </p:cNvPr>
          <p:cNvSpPr>
            <a:spLocks noGrp="1"/>
          </p:cNvSpPr>
          <p:nvPr/>
        </p:nvSpPr>
        <p:spPr>
          <a:xfrm>
            <a:off x="10953750" y="1476375"/>
            <a:ext cx="3200400" cy="1857375"/>
          </a:xfrm>
          <a:prstGeom prst="roundRect">
            <a:avLst>
              <a:gd name="adj" fmla="val 6154"/>
            </a:avLst>
          </a:prstGeom>
          <a:solidFill>
            <a:srgbClr val="DAC3E8"/>
          </a:solidFill>
          <a:ln w="11430">
            <a:solidFill>
              <a:srgbClr val="B99AD0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ACF63-FCD6-44A9-BBA8-0D91749F1B2E}"/>
              </a:ext>
            </a:extLst>
          </p:cNvPr>
          <p:cNvSpPr>
            <a:spLocks noGrp="1"/>
          </p:cNvSpPr>
          <p:nvPr/>
        </p:nvSpPr>
        <p:spPr>
          <a:xfrm>
            <a:off x="11182350" y="1647825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F2933"/>
                </a:solidFill>
              </a:defRPr>
            </a:pPr>
            <a:r>
              <a:rPr sz="1725" b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3. Tumor map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4DBE81-14D5-487F-9139-398B4600EFC1}"/>
              </a:ext>
            </a:extLst>
          </p:cNvPr>
          <p:cNvSpPr>
            <a:spLocks noGrp="1"/>
          </p:cNvSpPr>
          <p:nvPr/>
        </p:nvSpPr>
        <p:spPr>
          <a:xfrm>
            <a:off x="11142345" y="2002632"/>
            <a:ext cx="2419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Seurat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re-clustering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with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the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same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pipeline as 2: </a:t>
            </a:r>
            <a:endParaRPr sz="1350" b="1" dirty="0">
              <a:solidFill>
                <a:srgbClr val="1F2933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430EB2-8E5C-473F-BFF0-96FF07AE0785}"/>
              </a:ext>
            </a:extLst>
          </p:cNvPr>
          <p:cNvSpPr>
            <a:spLocks noGrp="1"/>
          </p:cNvSpPr>
          <p:nvPr/>
        </p:nvSpPr>
        <p:spPr>
          <a:xfrm>
            <a:off x="11144250" y="2473167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HVGs, PCA and t-SNE</a:t>
            </a: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1,031 variable genes</a:t>
            </a: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12 tumor subclusters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9364FBC-B071-4576-BF4E-D2707731652C}"/>
              </a:ext>
            </a:extLst>
          </p:cNvPr>
          <p:cNvSpPr>
            <a:spLocks noGrp="1"/>
          </p:cNvSpPr>
          <p:nvPr/>
        </p:nvSpPr>
        <p:spPr>
          <a:xfrm>
            <a:off x="12106275" y="3486150"/>
            <a:ext cx="590550" cy="609600"/>
          </a:xfrm>
          <a:prstGeom prst="down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F883AD-4510-4361-B805-47D18C6AA1D4}"/>
              </a:ext>
            </a:extLst>
          </p:cNvPr>
          <p:cNvSpPr>
            <a:spLocks noGrp="1"/>
          </p:cNvSpPr>
          <p:nvPr/>
        </p:nvSpPr>
        <p:spPr>
          <a:xfrm>
            <a:off x="8429624" y="4291964"/>
            <a:ext cx="5835015" cy="1804035"/>
          </a:xfrm>
          <a:prstGeom prst="roundRect">
            <a:avLst>
              <a:gd name="adj" fmla="val 7500"/>
            </a:avLst>
          </a:prstGeom>
          <a:solidFill>
            <a:srgbClr val="DAC3E8"/>
          </a:solidFill>
          <a:ln w="11430">
            <a:solidFill>
              <a:srgbClr val="B99AD0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AC0071-BF88-43F6-83BE-9A82C9E1390B}"/>
              </a:ext>
            </a:extLst>
          </p:cNvPr>
          <p:cNvSpPr>
            <a:spLocks noGrp="1"/>
          </p:cNvSpPr>
          <p:nvPr/>
        </p:nvSpPr>
        <p:spPr>
          <a:xfrm>
            <a:off x="8886825" y="441579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4. Markers + CNV refinement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9E3FC6-BDEA-4C97-A160-697BD94DB45F}"/>
              </a:ext>
            </a:extLst>
          </p:cNvPr>
          <p:cNvSpPr>
            <a:spLocks noGrp="1"/>
          </p:cNvSpPr>
          <p:nvPr/>
        </p:nvSpPr>
        <p:spPr>
          <a:xfrm>
            <a:off x="8686800" y="4779170"/>
            <a:ext cx="5143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Broad tumor markers + </a:t>
            </a:r>
            <a:r>
              <a:rPr sz="1350" b="1" dirty="0" err="1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inferCNV</a:t>
            </a: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support</a:t>
            </a: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inferCNV</a:t>
            </a: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reference: </a:t>
            </a: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579 </a:t>
            </a:r>
            <a:r>
              <a:rPr lang="fr-FR"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monocyte </a:t>
            </a:r>
            <a:r>
              <a:rPr lang="fr-FR" sz="1350" b="1" dirty="0" err="1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reference</a:t>
            </a:r>
            <a:r>
              <a:rPr lang="fr-FR"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1" dirty="0" err="1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cells</a:t>
            </a:r>
            <a:r>
              <a:rPr lang="fr-FR"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endParaRPr sz="1350" b="1" dirty="0">
              <a:solidFill>
                <a:srgbClr val="1F2933"/>
              </a:solidFill>
              <a:highlight>
                <a:srgbClr val="FFFF00"/>
              </a:highligh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1,083 kept from tumor map + 531 CNV</a:t>
            </a:r>
            <a:r>
              <a:rPr lang="fr-FR" sz="1350" b="1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1350" b="1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supported cells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E5B898-F648-4926-AD4D-75296F800A54}"/>
              </a:ext>
            </a:extLst>
          </p:cNvPr>
          <p:cNvSpPr>
            <a:spLocks noGrp="1"/>
          </p:cNvSpPr>
          <p:nvPr/>
        </p:nvSpPr>
        <p:spPr>
          <a:xfrm>
            <a:off x="8686800" y="5454015"/>
            <a:ext cx="6400800" cy="327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Output: 1,614 refined tumor cells</a:t>
            </a: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5E61381F-4073-43B3-9D2D-B2B2D85BD08A}"/>
              </a:ext>
            </a:extLst>
          </p:cNvPr>
          <p:cNvSpPr>
            <a:spLocks noGrp="1"/>
          </p:cNvSpPr>
          <p:nvPr/>
        </p:nvSpPr>
        <p:spPr>
          <a:xfrm>
            <a:off x="7524750" y="4682490"/>
            <a:ext cx="666750" cy="552450"/>
          </a:xfrm>
          <a:prstGeom prst="left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C77C79-2C1C-4F97-AA28-9A4C17E1C9D2}"/>
              </a:ext>
            </a:extLst>
          </p:cNvPr>
          <p:cNvSpPr>
            <a:spLocks noGrp="1"/>
          </p:cNvSpPr>
          <p:nvPr/>
        </p:nvSpPr>
        <p:spPr>
          <a:xfrm>
            <a:off x="3209925" y="3977640"/>
            <a:ext cx="4095750" cy="2171700"/>
          </a:xfrm>
          <a:prstGeom prst="roundRect">
            <a:avLst>
              <a:gd name="adj" fmla="val 5240"/>
            </a:avLst>
          </a:prstGeom>
          <a:solidFill>
            <a:srgbClr val="DAC3E8"/>
          </a:solidFill>
          <a:ln w="11430">
            <a:solidFill>
              <a:srgbClr val="B99AD0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DA9BC1-AA93-4C49-8D2D-61974B13AEAC}"/>
              </a:ext>
            </a:extLst>
          </p:cNvPr>
          <p:cNvSpPr>
            <a:spLocks noGrp="1"/>
          </p:cNvSpPr>
          <p:nvPr/>
        </p:nvSpPr>
        <p:spPr>
          <a:xfrm>
            <a:off x="3495675" y="411099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5. CNV support check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931D2E-213D-4005-9F93-79AC357386CB}"/>
              </a:ext>
            </a:extLst>
          </p:cNvPr>
          <p:cNvSpPr>
            <a:spLocks noGrp="1"/>
          </p:cNvSpPr>
          <p:nvPr/>
        </p:nvSpPr>
        <p:spPr>
          <a:xfrm>
            <a:off x="3306128" y="4556759"/>
            <a:ext cx="3825717" cy="12272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infer</a:t>
            </a: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CNV was added as support for the tumor marker call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(intestinal and diffuse signatures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from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paper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= </a:t>
            </a:r>
            <a:r>
              <a:rPr lang="fr-FR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</a:t>
            </a:r>
            <a:r>
              <a:rPr lang="en-GB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CDH17, REG4, MUC13/ </a:t>
            </a:r>
            <a:r>
              <a:rPr lang="en-GB" sz="1350" b="1" dirty="0" err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diffuseEMT</a:t>
            </a:r>
            <a:r>
              <a:rPr lang="en-GB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=IGFBP5, COL1A1 and S100A4</a:t>
            </a:r>
            <a:r>
              <a:rPr lang="fr-FR"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)</a:t>
            </a:r>
            <a:endParaRPr sz="1350" b="1" dirty="0">
              <a:solidFill>
                <a:srgbClr val="1F2933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2A6C7D-8751-4549-B51F-D77E9D71B94E}"/>
              </a:ext>
            </a:extLst>
          </p:cNvPr>
          <p:cNvSpPr>
            <a:spLocks noGrp="1"/>
          </p:cNvSpPr>
          <p:nvPr/>
        </p:nvSpPr>
        <p:spPr>
          <a:xfrm>
            <a:off x="3306128" y="5541169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CNV-high: 54.1% -&gt; 79.9%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688FAA-6AB8-48B7-96A6-B4DBE61339D3}"/>
              </a:ext>
            </a:extLst>
          </p:cNvPr>
          <p:cNvSpPr>
            <a:spLocks noGrp="1"/>
          </p:cNvSpPr>
          <p:nvPr/>
        </p:nvSpPr>
        <p:spPr>
          <a:xfrm>
            <a:off x="3306128" y="5613082"/>
            <a:ext cx="333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endParaRPr sz="1350" b="1" dirty="0">
              <a:solidFill>
                <a:srgbClr val="1F2933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C6444313-37F0-41F0-92DB-CF3D743053C3}"/>
              </a:ext>
            </a:extLst>
          </p:cNvPr>
          <p:cNvSpPr>
            <a:spLocks noGrp="1"/>
          </p:cNvSpPr>
          <p:nvPr/>
        </p:nvSpPr>
        <p:spPr>
          <a:xfrm>
            <a:off x="4762500" y="6210300"/>
            <a:ext cx="590550" cy="609600"/>
          </a:xfrm>
          <a:prstGeom prst="down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E4C07F8-3216-4682-B5C3-851AE6CEB6FD}"/>
              </a:ext>
            </a:extLst>
          </p:cNvPr>
          <p:cNvSpPr>
            <a:spLocks noGrp="1"/>
          </p:cNvSpPr>
          <p:nvPr/>
        </p:nvSpPr>
        <p:spPr>
          <a:xfrm>
            <a:off x="2876550" y="6890385"/>
            <a:ext cx="5105400" cy="1552575"/>
          </a:xfrm>
          <a:prstGeom prst="roundRect">
            <a:avLst>
              <a:gd name="adj" fmla="val 7362"/>
            </a:avLst>
          </a:prstGeom>
          <a:solidFill>
            <a:srgbClr val="DAC3E8"/>
          </a:solidFill>
          <a:ln w="11430">
            <a:solidFill>
              <a:srgbClr val="B99AD0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19204C-AFE7-4C6F-BB6E-531A5E9280F5}"/>
              </a:ext>
            </a:extLst>
          </p:cNvPr>
          <p:cNvSpPr>
            <a:spLocks noGrp="1"/>
          </p:cNvSpPr>
          <p:nvPr/>
        </p:nvSpPr>
        <p:spPr>
          <a:xfrm>
            <a:off x="3209925" y="6947535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6. Intestinal vs diffuse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CDA279-1865-438F-8728-4B0E2AE1FBC3}"/>
              </a:ext>
            </a:extLst>
          </p:cNvPr>
          <p:cNvSpPr>
            <a:spLocks noGrp="1"/>
          </p:cNvSpPr>
          <p:nvPr/>
        </p:nvSpPr>
        <p:spPr>
          <a:xfrm>
            <a:off x="3057525" y="7290435"/>
            <a:ext cx="4476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Tumor pole scores from marker genes</a:t>
            </a: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 err="1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IntestinalPoleScore</a:t>
            </a: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vs </a:t>
            </a:r>
            <a:r>
              <a:rPr sz="1350" b="1" dirty="0" err="1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DiffusePoleScore</a:t>
            </a:r>
            <a:endParaRPr sz="1350" b="1" dirty="0">
              <a:solidFill>
                <a:srgbClr val="1F2933"/>
              </a:solidFill>
              <a:highlight>
                <a:srgbClr val="FFFF00"/>
              </a:highligh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two-state readout on refined tumor cells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BECD781-CFFF-4A68-A02E-CE87CB7F6BAB}"/>
              </a:ext>
            </a:extLst>
          </p:cNvPr>
          <p:cNvSpPr>
            <a:spLocks noGrp="1"/>
          </p:cNvSpPr>
          <p:nvPr/>
        </p:nvSpPr>
        <p:spPr>
          <a:xfrm>
            <a:off x="3057525" y="8023860"/>
            <a:ext cx="3219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813 intestinal cells | 801 diffuse cells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D0BF500A-2F20-47FE-9B38-B3CF51656346}"/>
              </a:ext>
            </a:extLst>
          </p:cNvPr>
          <p:cNvSpPr>
            <a:spLocks noGrp="1"/>
          </p:cNvSpPr>
          <p:nvPr/>
        </p:nvSpPr>
        <p:spPr>
          <a:xfrm>
            <a:off x="8220075" y="7299960"/>
            <a:ext cx="666750" cy="552450"/>
          </a:xfrm>
          <a:prstGeom prst="rightArrow">
            <a:avLst/>
          </a:prstGeom>
          <a:solidFill>
            <a:srgbClr val="156082"/>
          </a:solidFill>
          <a:ln w="19050">
            <a:solidFill>
              <a:srgbClr val="0B2636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BFE1852-7C55-4B65-816E-D968A09EDFA3}"/>
              </a:ext>
            </a:extLst>
          </p:cNvPr>
          <p:cNvSpPr>
            <a:spLocks noGrp="1"/>
          </p:cNvSpPr>
          <p:nvPr/>
        </p:nvSpPr>
        <p:spPr>
          <a:xfrm>
            <a:off x="8936355" y="6864666"/>
            <a:ext cx="5596890" cy="1530667"/>
          </a:xfrm>
          <a:prstGeom prst="roundRect">
            <a:avLst>
              <a:gd name="adj" fmla="val 8000"/>
            </a:avLst>
          </a:prstGeom>
          <a:solidFill>
            <a:srgbClr val="DAC3E8"/>
          </a:solidFill>
          <a:ln w="11430">
            <a:solidFill>
              <a:srgbClr val="B99AD0"/>
            </a:solidFill>
            <a:prstDash val="solid"/>
          </a:ln>
        </p:spPr>
        <p:txBody>
          <a:bodyPr/>
          <a:lstStyle/>
          <a:p>
            <a:endParaRPr lang="fr-FR" b="1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C6417C-F523-49DC-BF1F-26E722C10486}"/>
              </a:ext>
            </a:extLst>
          </p:cNvPr>
          <p:cNvSpPr>
            <a:spLocks noGrp="1"/>
          </p:cNvSpPr>
          <p:nvPr/>
        </p:nvSpPr>
        <p:spPr>
          <a:xfrm>
            <a:off x="9353550" y="7042785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7. KCN readout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C9EA1CE-B237-452C-B26A-2821F3DBC9E5}"/>
              </a:ext>
            </a:extLst>
          </p:cNvPr>
          <p:cNvSpPr>
            <a:spLocks noGrp="1"/>
          </p:cNvSpPr>
          <p:nvPr/>
        </p:nvSpPr>
        <p:spPr>
          <a:xfrm>
            <a:off x="9298305" y="7390447"/>
            <a:ext cx="51777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3"/>
                </a:solidFill>
              </a:defRPr>
            </a:pP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Raw-count detection</a:t>
            </a:r>
            <a:r>
              <a:rPr lang="fr-FR"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+ </a:t>
            </a:r>
            <a:r>
              <a:rPr lang="fr-FR" sz="1350" b="1" dirty="0" err="1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mean</a:t>
            </a:r>
            <a:r>
              <a:rPr lang="fr-FR"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expression </a:t>
            </a:r>
            <a:r>
              <a:rPr sz="1350" b="1" dirty="0">
                <a:solidFill>
                  <a:srgbClr val="1F2933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+ Spearman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3FF353F-EAEB-4C10-AEB8-17D1591E840D}"/>
              </a:ext>
            </a:extLst>
          </p:cNvPr>
          <p:cNvSpPr>
            <a:spLocks noGrp="1"/>
          </p:cNvSpPr>
          <p:nvPr/>
        </p:nvSpPr>
        <p:spPr>
          <a:xfrm>
            <a:off x="9525000" y="7633335"/>
            <a:ext cx="3333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0000"/>
                </a:solidFill>
              </a:defRPr>
            </a:pPr>
            <a:r>
              <a:rPr sz="1275" b="1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KCNQ1: 6.7% positive; rho intestinal = 0.21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38A67A-C13E-498B-A7F6-6A2AD941BE4F}"/>
              </a:ext>
            </a:extLst>
          </p:cNvPr>
          <p:cNvSpPr>
            <a:spLocks noGrp="1"/>
          </p:cNvSpPr>
          <p:nvPr/>
        </p:nvSpPr>
        <p:spPr>
          <a:xfrm>
            <a:off x="9525000" y="7852410"/>
            <a:ext cx="387096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0000"/>
                </a:solidFill>
              </a:defRPr>
            </a:pPr>
            <a:r>
              <a:rPr sz="1275" b="1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KCNE3: 21.1% positive; rho intestinal = 0.20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481D79-E996-4C56-8B3B-A3D04BB0E9B8}"/>
              </a:ext>
            </a:extLst>
          </p:cNvPr>
          <p:cNvSpPr>
            <a:spLocks noGrp="1"/>
          </p:cNvSpPr>
          <p:nvPr/>
        </p:nvSpPr>
        <p:spPr>
          <a:xfrm>
            <a:off x="9525000" y="8071485"/>
            <a:ext cx="285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F0000"/>
                </a:solidFill>
              </a:defRPr>
            </a:pPr>
            <a:r>
              <a:rPr sz="1275" b="1" dirty="0">
                <a:solidFill>
                  <a:srgbClr val="FF0000"/>
                </a:solidFill>
                <a:highlight>
                  <a:srgbClr val="FFFF00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KCNE2: weaker and not stable</a:t>
            </a:r>
          </a:p>
        </p:txBody>
      </p:sp>
    </p:spTree>
    <p:extLst>
      <p:ext uri="{BB962C8B-B14F-4D97-AF65-F5344CB8AC3E}">
        <p14:creationId xmlns:p14="http://schemas.microsoft.com/office/powerpoint/2010/main" val="19325711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621</Words>
  <Application>Microsoft Office PowerPoint</Application>
  <DocSecurity>0</DocSecurity>
  <PresentationFormat>Custom</PresentationFormat>
  <Paragraphs>71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Microsoft Sans Serif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Youssra Missoum</cp:lastModifiedBy>
  <cp:revision>5</cp:revision>
  <dcterms:created xsi:type="dcterms:W3CDTF">2026-07-14T17:02:56Z</dcterms:created>
  <dcterms:modified xsi:type="dcterms:W3CDTF">2026-07-14T17:58:15Z</dcterms:modified>
</cp:coreProperties>
</file>